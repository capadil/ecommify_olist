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E7B"/>
                </a:solidFill>
                <a:latin typeface="Calibri"/>
              </a:rPr>
              <a:t>PROYECTO ECOMMIFY  ·  OLIST  ·  UNIDAD 6 — ENTREGA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Arquitectura híbrida de datos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para e-commerce a escala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PostgreSQL/PostGIS como fuente de verdad transaccional  +  MongoDB Atlas como capa documental derivada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72000"/>
            <a:ext cx="10515600" cy="27432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Grupo 01 · Equipo E16    |    Jorge Andrés Ayala · Pablo Andrés Melo · Camilo Andrés Padilla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E7B"/>
                </a:solidFill>
                <a:latin typeface="Calibri"/>
              </a:rPr>
              <a:t>github.com/capadil/Ecommify_Olist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E7B"/>
                </a:solidFill>
                <a:latin typeface="Calibri"/>
              </a:rPr>
              <a:t>01 ·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El problema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760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9E7B"/>
                </a:solidFill>
                <a:latin typeface="Calibri"/>
              </a:rPr>
              <a:t>Dos cargas de trabajo en tensión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</a:t>
            </a:r>
            <a:r>
              <a:rPr sz="1400" b="1">
                <a:solidFill>
                  <a:srgbClr val="222B33"/>
                </a:solidFill>
                <a:latin typeface="Calibri"/>
              </a:rPr>
              <a:t>OLTP transaccional: </a:t>
            </a:r>
            <a:r>
              <a:rPr sz="1400">
                <a:solidFill>
                  <a:srgbClr val="222B33"/>
                </a:solidFill>
                <a:latin typeface="Calibri"/>
              </a:rPr>
              <a:t>órdenes, pagos e inventario exigen consistencia fuerte, integridad referencial y trazabilidad. Tolerancia cero a registros huérfanos.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</a:t>
            </a:r>
            <a:r>
              <a:rPr sz="1400" b="1">
                <a:solidFill>
                  <a:srgbClr val="222B33"/>
                </a:solidFill>
                <a:latin typeface="Calibri"/>
              </a:rPr>
              <a:t>OLAP / lectura: </a:t>
            </a:r>
            <a:r>
              <a:rPr sz="1400">
                <a:solidFill>
                  <a:srgbClr val="222B33"/>
                </a:solidFill>
                <a:latin typeface="Calibri"/>
              </a:rPr>
              <a:t>catálogo de baja latencia, perfiles enriquecidos, dashboards y reseñas toleran cierto desfase temporal.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</a:t>
            </a:r>
            <a:r>
              <a:rPr sz="1400" b="1">
                <a:solidFill>
                  <a:srgbClr val="222B33"/>
                </a:solidFill>
                <a:latin typeface="Calibri"/>
              </a:rPr>
              <a:t>Datos mixtos: </a:t>
            </a:r>
            <a:r>
              <a:rPr sz="1400">
                <a:solidFill>
                  <a:srgbClr val="222B33"/>
                </a:solidFill>
                <a:latin typeface="Calibri"/>
              </a:rPr>
              <a:t>relaciones claras, pero también texto libre, atributos flexibles, coordenadas y agregados.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58521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B6670"/>
                </a:solidFill>
                <a:latin typeface="Calibri"/>
              </a:rPr>
              <a:t>Una sola tecnología no resuelve ambos mundos de forma igualmente eficiente.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691640"/>
            <a:ext cx="4937760" cy="4297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1691640"/>
            <a:ext cx="493776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737360"/>
            <a:ext cx="45720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Objetivos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42316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2E9E7B"/>
                </a:solidFill>
                <a:latin typeface="Calibri"/>
              </a:rPr>
              <a:t>—  </a:t>
            </a:r>
            <a:r>
              <a:rPr sz="1350">
                <a:solidFill>
                  <a:srgbClr val="222B33"/>
                </a:solidFill>
                <a:latin typeface="Calibri"/>
              </a:rPr>
              <a:t>Diseñar una arquitectura híbrida justificada por requisitos.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2E9E7B"/>
                </a:solidFill>
                <a:latin typeface="Calibri"/>
              </a:rPr>
              <a:t>—  </a:t>
            </a:r>
            <a:r>
              <a:rPr sz="1350">
                <a:solidFill>
                  <a:srgbClr val="222B33"/>
                </a:solidFill>
                <a:latin typeface="Calibri"/>
              </a:rPr>
              <a:t>Optimizar consultas con índices, particionamiento y agregaciones.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2E9E7B"/>
                </a:solidFill>
                <a:latin typeface="Calibri"/>
              </a:rPr>
              <a:t>—  </a:t>
            </a:r>
            <a:r>
              <a:rPr sz="1350">
                <a:solidFill>
                  <a:srgbClr val="222B33"/>
                </a:solidFill>
                <a:latin typeface="Calibri"/>
              </a:rPr>
              <a:t>Evaluar rendimiento con evidencia empírica antes/después.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2E9E7B"/>
                </a:solidFill>
                <a:latin typeface="Calibri"/>
              </a:rPr>
              <a:t>—  </a:t>
            </a:r>
            <a:r>
              <a:rPr sz="1350">
                <a:solidFill>
                  <a:srgbClr val="222B33"/>
                </a:solidFill>
                <a:latin typeface="Calibri"/>
              </a:rPr>
              <a:t>Comparar PostgreSQL vs MongoDB para el caso real.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2E9E7B"/>
                </a:solidFill>
                <a:latin typeface="Calibri"/>
              </a:rPr>
              <a:t>—  </a:t>
            </a:r>
            <a:r>
              <a:rPr sz="1350">
                <a:solidFill>
                  <a:srgbClr val="222B33"/>
                </a:solidFill>
                <a:latin typeface="Calibri"/>
              </a:rPr>
              <a:t>Documentar decisiones bajo el Teorema CAP.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E7B"/>
                </a:solidFill>
                <a:latin typeface="Calibri"/>
              </a:rPr>
              <a:t>02 ·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Arquitectura híbrida implementada</a:t>
            </a:r>
          </a:p>
        </p:txBody>
      </p:sp>
      <p:pic>
        <p:nvPicPr>
          <p:cNvPr id="4" name="Picture 3" descr="diagram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18330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6670"/>
                </a:solidFill>
                <a:latin typeface="Calibri"/>
              </a:rPr>
              <a:t>Supabase gobierna integridad y operaciones críticas; un job batch idempotente sincroniza hacia Atlas, que sirve lecturas y analítica. Docker queda solo como ambiente de reproducción y pruebas, no como destino productivo.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E7B"/>
                </a:solidFill>
                <a:latin typeface="Calibri"/>
              </a:rPr>
              <a:t>03 · DECISIONES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¿Qué dato vive en cada motor?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486400" cy="4480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PostgreSQL / PostGIS  ·  Supabase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CADCFC"/>
                </a:solidFill>
                <a:latin typeface="Calibri"/>
              </a:rPr>
              <a:t>Fuente de verdad — prioridad consistencia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Órdenes, pagos e ítems (reglas financieras, FK)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Clientes y productos maestros (integridad)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Geolocalización con GEOGRAPHY + GiST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Atributos flexibles con JSONB controlado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Vistas materializadas para analítica recurrente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394960" cy="448056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MongoDB  ·  Atlas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E8F7F1"/>
                </a:solidFill>
                <a:latin typeface="Calibri"/>
              </a:rPr>
              <a:t>Capa derivada — prioridad disponibilidad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80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Catálogo enriquecido (producto + categoría + métricas)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Perfiles de clientes para segmentación/CRM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Desempeño de vendedores (dashboards)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Analítica geográfica por estado/ciudad/mes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Reseñas enriquecidas con contexto de orden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E7B"/>
                </a:solidFill>
                <a:latin typeface="Calibri"/>
              </a:rPr>
              <a:t>04 · INGENIERÍA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Decisiones técnicas no obvias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257800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09728" cy="21031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47672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4E79"/>
                </a:solidFill>
                <a:latin typeface="Calibri"/>
              </a:rPr>
              <a:t>Llaves técnicas BIGINT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4937760" cy="1234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0" i="0">
                <a:solidFill>
                  <a:srgbClr val="222B33"/>
                </a:solidFill>
                <a:latin typeface="Calibri"/>
              </a:rPr>
              <a:t>Se usaron surrogate keys internas en vez de los IDs de texto de Olist como PK física. Los IDs originales se conservan como TEXT UNIQUE para trazabilidad.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257800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109728" cy="21031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47672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4E79"/>
                </a:solidFill>
                <a:latin typeface="Calibri"/>
              </a:rPr>
              <a:t>Particionamiento diferido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60320"/>
            <a:ext cx="4937760" cy="1234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0" i="0">
                <a:solidFill>
                  <a:srgbClr val="222B33"/>
                </a:solidFill>
                <a:latin typeface="Calibri"/>
              </a:rPr>
              <a:t>Se documentó el borrador pero NO se activó: PostgreSQL exige incluir la clave de partición en cada índice único, lo que rompería las FK con el volumen actual.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69080"/>
            <a:ext cx="5257800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069080"/>
            <a:ext cx="109728" cy="21031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233672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4E79"/>
                </a:solidFill>
                <a:latin typeface="Calibri"/>
              </a:rPr>
              <a:t>Índice compuesto en review_documents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846320"/>
            <a:ext cx="4937760" cy="1234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0" i="0">
                <a:solidFill>
                  <a:srgbClr val="222B33"/>
                </a:solidFill>
                <a:latin typeface="Calibri"/>
              </a:rPr>
              <a:t>Usar solo review_id reducía la carga a 994 docs. El índice {review_id, order_id} permitió cargar los 99.224 reales: el modelo se ajustó a los datos.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4069080"/>
            <a:ext cx="5257800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4069080"/>
            <a:ext cx="109728" cy="21031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233672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4E79"/>
                </a:solidFill>
                <a:latin typeface="Calibri"/>
              </a:rPr>
              <a:t>Especialización por extensión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846320"/>
            <a:ext cx="4937760" cy="1234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0" i="0">
                <a:solidFill>
                  <a:srgbClr val="222B33"/>
                </a:solidFill>
                <a:latin typeface="Calibri"/>
              </a:rPr>
              <a:t>pg_trgm + GIN para texto aproximado y PostGIS + GiST para geografía: capacidades que evitan duplicar entidades o mover lógica a la aplicación.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E7B"/>
                </a:solidFill>
                <a:latin typeface="Calibri"/>
              </a:rPr>
              <a:t>05 · TEOREMA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CAP aplicado por módulo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8288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828800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754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Decisión / trade-off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11064240" cy="7772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108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B33"/>
                </a:solidFill>
                <a:latin typeface="Calibri"/>
              </a:rPr>
              <a:t>Órdenes y pagos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86000"/>
            <a:ext cx="1828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B33"/>
                </a:solidFill>
                <a:latin typeface="Calibri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2487168"/>
            <a:ext cx="1005840" cy="38404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487168"/>
            <a:ext cx="100584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286000"/>
            <a:ext cx="4754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No se aceptan pagos ni órdenes inconsistentes. Ante partición, se prioriza consistencia.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6324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63240"/>
            <a:ext cx="3108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B33"/>
                </a:solidFill>
                <a:latin typeface="Calibri"/>
              </a:rPr>
              <a:t>Clientes y productos maestros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063240"/>
            <a:ext cx="1828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B33"/>
                </a:solidFill>
                <a:latin typeface="Calibri"/>
              </a:rPr>
              <a:t>PostgreSQL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3264408"/>
            <a:ext cx="1005840" cy="38404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3264408"/>
            <a:ext cx="100584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063240"/>
            <a:ext cx="4754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La integridad referencial pesa más que una escritura siempre disponible.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11064240" cy="7772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3108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B33"/>
                </a:solidFill>
                <a:latin typeface="Calibri"/>
              </a:rPr>
              <a:t>Catálogo enriquecido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40480"/>
            <a:ext cx="1828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B33"/>
                </a:solidFill>
                <a:latin typeface="Calibri"/>
              </a:rPr>
              <a:t>MongoDB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4041648"/>
            <a:ext cx="1005840" cy="384048"/>
          </a:xfrm>
          <a:prstGeom prst="round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4041648"/>
            <a:ext cx="100584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840480"/>
            <a:ext cx="4754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Disponibilidad y baja latencia; se acepta consistencia eventual vs PostgreSQL.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1772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617720"/>
            <a:ext cx="3108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B33"/>
                </a:solidFill>
                <a:latin typeface="Calibri"/>
              </a:rPr>
              <a:t>Dashboards y geo-analítica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617720"/>
            <a:ext cx="1828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B33"/>
                </a:solidFill>
                <a:latin typeface="Calibri"/>
              </a:rPr>
              <a:t>MongoDB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818888"/>
            <a:ext cx="1005840" cy="384048"/>
          </a:xfrm>
          <a:prstGeom prst="round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4818888"/>
            <a:ext cx="100584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617720"/>
            <a:ext cx="4754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Los agregados pueden estar desfasados hasta el siguiente refresh/sync.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394959"/>
            <a:ext cx="11064240" cy="7772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394959"/>
            <a:ext cx="3108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B33"/>
                </a:solidFill>
                <a:latin typeface="Calibri"/>
              </a:rPr>
              <a:t>Validación post-sync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5394959"/>
            <a:ext cx="1828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B33"/>
                </a:solidFill>
                <a:latin typeface="Calibri"/>
              </a:rPr>
              <a:t>MongoDB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5596127"/>
            <a:ext cx="1005840" cy="38404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5596127"/>
            <a:ext cx="100584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CP temp.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394959"/>
            <a:ext cx="4754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Al validar cargas se lee del primary con read concern: majority.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E7B"/>
                </a:solidFill>
                <a:latin typeface="Calibri"/>
              </a:rPr>
              <a:t>06 · RENDIMIENTO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Optimización en PostgreSQL</a:t>
            </a:r>
          </a:p>
        </p:txBody>
      </p:sp>
      <p:pic>
        <p:nvPicPr>
          <p:cNvPr id="4" name="Picture 3" descr="chart_postgres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315200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920240"/>
            <a:ext cx="3657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4E79"/>
                </a:solidFill>
                <a:latin typeface="Calibri"/>
              </a:rPr>
              <a:t>-99,83%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60604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Tiempo en búsqueda OLTP por order_id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(25,899 ms → 0,043 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3520440"/>
            <a:ext cx="3657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E9E7B"/>
                </a:solidFill>
                <a:latin typeface="Calibri"/>
              </a:rPr>
              <a:t>-98,66%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20624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Búsqueda espacial PostGIS por radio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(26,105 ms → 0,351 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5120640"/>
            <a:ext cx="3657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B6EA5"/>
                </a:solidFill>
                <a:latin typeface="Calibri"/>
              </a:rPr>
              <a:t>0,231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80644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Dashboard de ventas vía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vista materializada (preagregado)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E7B"/>
                </a:solidFill>
                <a:latin typeface="Calibri"/>
              </a:rPr>
              <a:t>06 · RENDIMIENTO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Optimización en MongoDB</a:t>
            </a:r>
          </a:p>
        </p:txBody>
      </p:sp>
      <p:pic>
        <p:nvPicPr>
          <p:cNvPr id="4" name="Picture 3" descr="chart_mongo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315200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920240"/>
            <a:ext cx="3657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E9E7B"/>
                </a:solidFill>
                <a:latin typeface="Calibri"/>
              </a:rPr>
              <a:t>20.888→20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60604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Docs examinados en geo_analytics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con índice {state, city}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3520440"/>
            <a:ext cx="3657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4E79"/>
                </a:solidFill>
                <a:latin typeface="Calibri"/>
              </a:rPr>
              <a:t>-94,33%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20624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Catálogo por categoría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(353 → 20 docs examinados)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5029200"/>
            <a:ext cx="36576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670"/>
                </a:solidFill>
                <a:latin typeface="Calibri"/>
              </a:rPr>
              <a:t>La eficiencia aparece cuando el índice coincide con el patrón real de lectura. En tiempos de 0 ms, la métrica útil es el número de documentos examinados.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E7B"/>
                </a:solidFill>
                <a:latin typeface="Calibri"/>
              </a:rPr>
              <a:t>07 · COMPARATIVA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PostgreSQL vs MongoDB — ganador por aspecto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1064240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029200" cy="4389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Aspecto evaluado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828800"/>
            <a:ext cx="1828800" cy="4389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Ganador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749039" cy="4389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67712"/>
            <a:ext cx="11064240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512064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B33"/>
                </a:solidFill>
                <a:latin typeface="Calibri"/>
              </a:rPr>
              <a:t>Consultas transaccionales puntuales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414016"/>
            <a:ext cx="1691640" cy="3657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414016"/>
            <a:ext cx="16916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67712"/>
            <a:ext cx="374903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B33"/>
                </a:solidFill>
                <a:latin typeface="Calibri"/>
              </a:rPr>
              <a:t>order_id optimizado a 0,043 ms con FK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512064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B33"/>
                </a:solidFill>
                <a:latin typeface="Calibri"/>
              </a:rPr>
              <a:t>Integridad financiera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072384"/>
            <a:ext cx="1691640" cy="3657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3072384"/>
            <a:ext cx="16916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926080"/>
            <a:ext cx="374903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B33"/>
                </a:solidFill>
                <a:latin typeface="Calibri"/>
              </a:rPr>
              <a:t>Secuencia, valores y restricciones en pagos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84448"/>
            <a:ext cx="11064240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84448"/>
            <a:ext cx="512064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B33"/>
                </a:solidFill>
                <a:latin typeface="Calibri"/>
              </a:rPr>
              <a:t>Búsqueda espacial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730752"/>
            <a:ext cx="1691640" cy="3657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3730752"/>
            <a:ext cx="16916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584448"/>
            <a:ext cx="374903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B33"/>
                </a:solidFill>
                <a:latin typeface="Calibri"/>
              </a:rPr>
              <a:t>PostGIS + GiST resolvió radio en 0,351 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42816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42816"/>
            <a:ext cx="512064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B33"/>
                </a:solidFill>
                <a:latin typeface="Calibri"/>
              </a:rPr>
              <a:t>Catálogo enriquecido de lectura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4389120"/>
            <a:ext cx="1691640" cy="365760"/>
          </a:xfrm>
          <a:prstGeom prst="round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4389120"/>
            <a:ext cx="16916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242816"/>
            <a:ext cx="374903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B33"/>
                </a:solidFill>
                <a:latin typeface="Calibri"/>
              </a:rPr>
              <a:t>Documento evita joins; 20 docs con índice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01183"/>
            <a:ext cx="11064240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01183"/>
            <a:ext cx="512064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B33"/>
                </a:solidFill>
                <a:latin typeface="Calibri"/>
              </a:rPr>
              <a:t>Flexibilidad de documentos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047488"/>
            <a:ext cx="1691640" cy="365760"/>
          </a:xfrm>
          <a:prstGeom prst="round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5047488"/>
            <a:ext cx="16916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901183"/>
            <a:ext cx="374903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B33"/>
                </a:solidFill>
                <a:latin typeface="Calibri"/>
              </a:rPr>
              <a:t>Estructuras anidadas y proyecciones evolutivas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559551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59551"/>
            <a:ext cx="512064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B33"/>
                </a:solidFill>
                <a:latin typeface="Calibri"/>
              </a:rPr>
              <a:t>Dashboards derivados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5705855"/>
            <a:ext cx="1691640" cy="365760"/>
          </a:xfrm>
          <a:prstGeom prst="round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5705855"/>
            <a:ext cx="16916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Empate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559551"/>
            <a:ext cx="374903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B33"/>
                </a:solidFill>
                <a:latin typeface="Calibri"/>
              </a:rPr>
              <a:t>MV en Postgres + documentos agregados en Atlas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E7B"/>
                </a:solidFill>
                <a:latin typeface="Calibri"/>
              </a:rPr>
              <a:t>08 · ESCENARIOS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Trade-offs C vs A en producción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3611880" cy="42062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3611880" cy="9601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Pico de ventas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FFFFFF"/>
                </a:solidFill>
                <a:latin typeface="Calibri"/>
              </a:rPr>
              <a:t>Campaña de descuentos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E7B"/>
                </a:solidFill>
                <a:latin typeface="Calibri"/>
              </a:rPr>
              <a:t>A en lectura / C en escritura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320040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Catálogo y dashboards desde secundarios (maxStaleness 90s) + cache; pagos y órdenes siempre consistentes en el primary.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783080"/>
            <a:ext cx="3611880" cy="42062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783080"/>
            <a:ext cx="3611880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Auditoría financiera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3317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FFFFFF"/>
                </a:solidFill>
                <a:latin typeface="Calibri"/>
              </a:rPr>
              <a:t>Corte contable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92608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4E79"/>
                </a:solidFill>
                <a:latin typeface="Calibri"/>
              </a:rPr>
              <a:t>Consistencia estricta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703320"/>
            <a:ext cx="320040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Lectura desde primary con SERIALIZABLE; se bloquea MongoDB para cifras contables y se congela la ventana de sync.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783080"/>
            <a:ext cx="3611880" cy="42062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783080"/>
            <a:ext cx="3611880" cy="96012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Cierre de 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3317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FFFFFF"/>
                </a:solidFill>
                <a:latin typeface="Calibri"/>
              </a:rPr>
              <a:t>Reporting analítico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92608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B6EA5"/>
                </a:solidFill>
                <a:latin typeface="Calibri"/>
              </a:rPr>
              <a:t>Disponibilidad (tolera desfase)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703320"/>
            <a:ext cx="320040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Refresh de vistas y sync fuera de hora pico; dashboards desde Atlas sin impactar el OLTP.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5B6670"/>
                </a:solidFill>
                <a:latin typeface="Calibri"/>
              </a:rPr>
              <a:t>Regla transversal: toda cifra con valor legal o financiero se resuelve en PostgreSQL con consistencia fuerte.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E7B"/>
                </a:solidFill>
                <a:latin typeface="Calibri"/>
              </a:rPr>
              <a:t>09 · APRENDIZAJES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Lecciones aprendidas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4E79"/>
                </a:solidFill>
                <a:latin typeface="Calibri"/>
              </a:rPr>
              <a:t>Una fuente de verdad clara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67128"/>
            <a:ext cx="102412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B33"/>
                </a:solidFill>
                <a:latin typeface="Calibri"/>
              </a:rPr>
              <a:t>evita conflictos entre PostgreSQL y MongoDB en la arquitectura híbrida.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97479"/>
            <a:ext cx="502920" cy="5029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79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4E79"/>
                </a:solidFill>
                <a:latin typeface="Calibri"/>
              </a:rPr>
              <a:t>Documentos derivados reconstruibles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35808"/>
            <a:ext cx="102412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B33"/>
                </a:solidFill>
                <a:latin typeface="Calibri"/>
              </a:rPr>
              <a:t>si MongoDB falla o cambia el modelo, se regenera desde PostgreSQL.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566159"/>
            <a:ext cx="502920" cy="5029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66159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20439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4E79"/>
                </a:solidFill>
                <a:latin typeface="Calibri"/>
              </a:rPr>
              <a:t>Las llaves únicas se validan con datos reales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04487"/>
            <a:ext cx="102412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B33"/>
                </a:solidFill>
                <a:latin typeface="Calibri"/>
              </a:rPr>
              <a:t>review_documents demostró que un supuesto de unicidad puede ser falso.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891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4E79"/>
                </a:solidFill>
                <a:latin typeface="Calibri"/>
              </a:rPr>
              <a:t>Los índices responden al patrón de consulta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73168"/>
            <a:ext cx="102412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B33"/>
                </a:solidFill>
                <a:latin typeface="Calibri"/>
              </a:rPr>
              <a:t>ambos motores mejoraron cuando el índice coincidió con el filtro real.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303520"/>
            <a:ext cx="502920" cy="5029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25780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4E79"/>
                </a:solidFill>
                <a:latin typeface="Calibri"/>
              </a:rPr>
              <a:t>Free tier valida, no concluye capacidad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641848"/>
            <a:ext cx="102412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B33"/>
                </a:solidFill>
                <a:latin typeface="Calibri"/>
              </a:rPr>
              <a:t>los tiempos cloud dependen de red y recursos compartidos.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E7B"/>
                </a:solidFill>
                <a:latin typeface="Calibri"/>
              </a:rPr>
              <a:t>10 · ESTRATEGIA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Recomendaciones para crecer 10x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257800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2578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8463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Escalamiento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8463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Supabase a plan productivo (PITR, réplicas de lectura). Atlas a cluster dedicado; sharding en product_catalog si las métricas lo justifican.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257800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25780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8463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Free tier → producción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41448"/>
            <a:ext cx="48463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Ambientes dev/staging/prod, backups, secretos gestionados y migraciones reversibles. ~210 MB → ~2,1 GB al multiplicar por 10.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69080"/>
            <a:ext cx="5257800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069080"/>
            <a:ext cx="5257800" cy="50292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69080"/>
            <a:ext cx="48463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Tecnologías complementarias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27448"/>
            <a:ext cx="48463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Redis (cache de catálogo y dashboards), OpenSearch/Atlas Search (texto), Prometheus/Grafana (observabilidad).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4069080"/>
            <a:ext cx="5257800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4069080"/>
            <a:ext cx="5257800" cy="502920"/>
          </a:xfrm>
          <a:prstGeom prst="rect">
            <a:avLst/>
          </a:prstGeom>
          <a:solidFill>
            <a:srgbClr val="B0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8463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Sincronización y CI/CD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727448"/>
            <a:ext cx="48463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De batch a incremental por updated_at / outbox / CDC. Migraciones SQL versionadas, probadas en Docker antes de cloud, con rollback.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E7B"/>
                </a:solidFill>
                <a:latin typeface="Calibri"/>
              </a:rPr>
              <a:t>11 ·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9E7B"/>
                </a:solidFill>
                <a:latin typeface="Calibri"/>
              </a:rPr>
              <a:t>Objetivos cumplidos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222B33"/>
                </a:solidFill>
                <a:latin typeface="Calibri"/>
              </a:rPr>
              <a:t>Arquitectura híbrida diseñada, implementada y validada en cloud.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222B33"/>
                </a:solidFill>
                <a:latin typeface="Calibri"/>
              </a:rPr>
              <a:t>PostgreSQL/PostGIS confirmado como núcleo transaccional y espacial.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222B33"/>
                </a:solidFill>
                <a:latin typeface="Calibri"/>
              </a:rPr>
              <a:t>MongoDB Atlas confirmado como capa documental derivada y reconstruible.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222B33"/>
                </a:solidFill>
                <a:latin typeface="Calibri"/>
              </a:rPr>
              <a:t>Optimizaciones guiadas por patrones reales de consulta, con evidencia cuantitativa.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2E9E7B"/>
                </a:solidFill>
                <a:latin typeface="Calibri"/>
              </a:rPr>
              <a:t>—  </a:t>
            </a:r>
            <a:r>
              <a:rPr sz="1400">
                <a:solidFill>
                  <a:srgbClr val="222B33"/>
                </a:solidFill>
                <a:latin typeface="Calibri"/>
              </a:rPr>
              <a:t>Selección tecnológica por módulo justificada bajo el Teorema CAP.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783080"/>
            <a:ext cx="4389120" cy="4297680"/>
          </a:xfrm>
          <a:prstGeom prst="rect">
            <a:avLst/>
          </a:prstGeom>
          <a:solidFill>
            <a:srgbClr val="1F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057400"/>
            <a:ext cx="39319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9E7B"/>
                </a:solidFill>
                <a:latin typeface="Calibri"/>
              </a:rPr>
              <a:t>9 tablas · 210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624328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Núcleo relacional en Supabase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3154680"/>
            <a:ext cx="39319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9E7B"/>
                </a:solidFill>
                <a:latin typeface="Calibri"/>
              </a:rPr>
              <a:t>~256k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721608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Capa documental en Atlas, 0 fallos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251960"/>
            <a:ext cx="39319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E9E7B"/>
                </a:solidFill>
                <a:latin typeface="Calibri"/>
              </a:rPr>
              <a:t>-99,83% / -99,90%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4818888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Tiempo OLTP / docs geo examinados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5440680"/>
            <a:ext cx="3931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FFFFFF"/>
                </a:solidFill>
                <a:latin typeface="Calibri"/>
              </a:rPr>
              <a:t>Próximo paso: pruebas formales de carga</a:t>
            </a:r>
          </a:p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FFFFFF"/>
                </a:solidFill>
                <a:latin typeface="Calibri"/>
              </a:rPr>
              <a:t>y sincronización incremental.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Proyecto Ecommify · Arquitectura híbrida PostgreSQL + MongoDB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10515600" cy="27432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Grupo 01 · Equipo E16   |   github.com/capadil/Ecommify_Olist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