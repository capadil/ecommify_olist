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9E7B"/>
                </a:solidFill>
                <a:latin typeface="Calibri"/>
              </a:rPr>
              <a:t>PROYECTO ECOMMIFY  ·  OLIST  ·  UNIDAD 6 — ENTREGA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607040" cy="1463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Arquitectura híbrida de datos</a:t>
            </a:r>
          </a:p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para e-commerce a escala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1188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CADCFC"/>
                </a:solidFill>
                <a:latin typeface="Calibri"/>
              </a:rPr>
              <a:t>PostgreSQL/PostGIS como fuente de verdad transaccional  +  MongoDB Atlas como capa documental derivada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572000"/>
            <a:ext cx="10515600" cy="27432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754880"/>
            <a:ext cx="105156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FFFFF"/>
                </a:solidFill>
                <a:latin typeface="Calibri"/>
              </a:rPr>
              <a:t>Grupo 01 · Equipo E16    |    Jorge Andrés Ayala · Pablo Andrés Melo · Camilo Andrés Padilla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1208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9E7B"/>
                </a:solidFill>
                <a:latin typeface="Calibri"/>
              </a:rPr>
              <a:t>github.com/capadil/Ecommify_Olist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E9E7B"/>
                </a:solidFill>
                <a:latin typeface="Calibri"/>
              </a:rPr>
              <a:t>01 · CONTEXTO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4E79"/>
                </a:solidFill>
                <a:latin typeface="Calibri"/>
              </a:rPr>
              <a:t>El problema de negocio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57607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2E9E7B"/>
                </a:solidFill>
                <a:latin typeface="Calibri"/>
              </a:rPr>
              <a:t>Dos cargas de trabajo en tensión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5852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2E9E7B"/>
                </a:solidFill>
                <a:latin typeface="Calibri"/>
              </a:rPr>
              <a:t>— </a:t>
            </a:r>
            <a:r>
              <a:rPr sz="1400" b="1">
                <a:solidFill>
                  <a:srgbClr val="222B33"/>
                </a:solidFill>
                <a:latin typeface="Calibri"/>
              </a:rPr>
              <a:t>OLTP transaccional: </a:t>
            </a:r>
            <a:r>
              <a:rPr sz="1400">
                <a:solidFill>
                  <a:srgbClr val="222B33"/>
                </a:solidFill>
                <a:latin typeface="Calibri"/>
              </a:rPr>
              <a:t>órdenes, pagos e inventario exigen consistencia fuerte, integridad referencial y trazabilidad. Tolerancia cero a registros huérfanos.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2E9E7B"/>
                </a:solidFill>
                <a:latin typeface="Calibri"/>
              </a:rPr>
              <a:t>— </a:t>
            </a:r>
            <a:r>
              <a:rPr sz="1400" b="1">
                <a:solidFill>
                  <a:srgbClr val="222B33"/>
                </a:solidFill>
                <a:latin typeface="Calibri"/>
              </a:rPr>
              <a:t>OLAP / lectura: </a:t>
            </a:r>
            <a:r>
              <a:rPr sz="1400">
                <a:solidFill>
                  <a:srgbClr val="222B33"/>
                </a:solidFill>
                <a:latin typeface="Calibri"/>
              </a:rPr>
              <a:t>catálogo de baja latencia, perfiles enriquecidos, dashboards y reseñas toleran cierto desfase temporal.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2E9E7B"/>
                </a:solidFill>
                <a:latin typeface="Calibri"/>
              </a:rPr>
              <a:t>— </a:t>
            </a:r>
            <a:r>
              <a:rPr sz="1400" b="1">
                <a:solidFill>
                  <a:srgbClr val="222B33"/>
                </a:solidFill>
                <a:latin typeface="Calibri"/>
              </a:rPr>
              <a:t>Datos mixtos: </a:t>
            </a:r>
            <a:r>
              <a:rPr sz="1400">
                <a:solidFill>
                  <a:srgbClr val="222B33"/>
                </a:solidFill>
                <a:latin typeface="Calibri"/>
              </a:rPr>
              <a:t>relaciones claras, pero también texto libre, atributos flexibles, coordenadas y agregados.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0"/>
            <a:ext cx="585216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5B6670"/>
                </a:solidFill>
                <a:latin typeface="Calibri"/>
              </a:rPr>
              <a:t>Una sola tecnología no resuelve ambos mundos de forma igualmente eficiente.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1691640"/>
            <a:ext cx="4937760" cy="42976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75120" y="1691640"/>
            <a:ext cx="4937760" cy="5029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1737360"/>
            <a:ext cx="457200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Objetivos del proyecto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03720" y="2423160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2E9E7B"/>
                </a:solidFill>
                <a:latin typeface="Calibri"/>
              </a:rPr>
              <a:t>—  </a:t>
            </a:r>
            <a:r>
              <a:rPr sz="1350">
                <a:solidFill>
                  <a:srgbClr val="222B33"/>
                </a:solidFill>
                <a:latin typeface="Calibri"/>
              </a:rPr>
              <a:t>Diseñar una arquitectura híbrida justificada por requisitos.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2E9E7B"/>
                </a:solidFill>
                <a:latin typeface="Calibri"/>
              </a:rPr>
              <a:t>—  </a:t>
            </a:r>
            <a:r>
              <a:rPr sz="1350">
                <a:solidFill>
                  <a:srgbClr val="222B33"/>
                </a:solidFill>
                <a:latin typeface="Calibri"/>
              </a:rPr>
              <a:t>Optimizar consultas con índices, particionamiento y agregaciones.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2E9E7B"/>
                </a:solidFill>
                <a:latin typeface="Calibri"/>
              </a:rPr>
              <a:t>—  </a:t>
            </a:r>
            <a:r>
              <a:rPr sz="1350">
                <a:solidFill>
                  <a:srgbClr val="222B33"/>
                </a:solidFill>
                <a:latin typeface="Calibri"/>
              </a:rPr>
              <a:t>Evaluar rendimiento con evidencia empírica antes/después.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2E9E7B"/>
                </a:solidFill>
                <a:latin typeface="Calibri"/>
              </a:rPr>
              <a:t>—  </a:t>
            </a:r>
            <a:r>
              <a:rPr sz="1350">
                <a:solidFill>
                  <a:srgbClr val="222B33"/>
                </a:solidFill>
                <a:latin typeface="Calibri"/>
              </a:rPr>
              <a:t>Comparar PostgreSQL vs MongoDB para el caso real.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350" b="1">
                <a:solidFill>
                  <a:srgbClr val="2E9E7B"/>
                </a:solidFill>
                <a:latin typeface="Calibri"/>
              </a:rPr>
              <a:t>—  </a:t>
            </a:r>
            <a:r>
              <a:rPr sz="1350">
                <a:solidFill>
                  <a:srgbClr val="222B33"/>
                </a:solidFill>
                <a:latin typeface="Calibri"/>
              </a:rPr>
              <a:t>Documentar decisiones bajo el Teorema CAP.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E9E7B"/>
                </a:solidFill>
                <a:latin typeface="Calibri"/>
              </a:rPr>
              <a:t>02 · ARQUITECTURA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4E79"/>
                </a:solidFill>
                <a:latin typeface="Calibri"/>
              </a:rPr>
              <a:t>Arquitectura híbrida implementada</a:t>
            </a:r>
          </a:p>
        </p:txBody>
      </p:sp>
      <p:pic>
        <p:nvPicPr>
          <p:cNvPr id="4" name="Picture 3" descr="diagram_arquitec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11064240" cy="183306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07492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5B6670"/>
                </a:solidFill>
                <a:latin typeface="Calibri"/>
              </a:rPr>
              <a:t>Supabase gobierna integridad y operaciones críticas; un job batch idempotente sincroniza hacia Atlas, que sirve lecturas y analítica. Docker queda solo como ambiente de reproducción y pruebas, no como destino productivo.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E9E7B"/>
                </a:solidFill>
                <a:latin typeface="Calibri"/>
              </a:rPr>
              <a:t>03 · DECISIONES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4E79"/>
                </a:solidFill>
                <a:latin typeface="Calibri"/>
              </a:rPr>
              <a:t>¿Qué dato vive en cada motor?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5486400" cy="4480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Calibri"/>
              </a:rPr>
              <a:t>PostgreSQL / PostGIS  ·  Supabase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51206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CADCFC"/>
                </a:solidFill>
                <a:latin typeface="Calibri"/>
              </a:rPr>
              <a:t>Fuente de verdad — prioridad consistencia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80360"/>
            <a:ext cx="5120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 b="1">
                <a:solidFill>
                  <a:srgbClr val="2E9E7B"/>
                </a:solidFill>
                <a:latin typeface="Calibri"/>
              </a:rPr>
              <a:t>—  </a:t>
            </a:r>
            <a:r>
              <a:rPr sz="1400">
                <a:solidFill>
                  <a:srgbClr val="FFFFFF"/>
                </a:solidFill>
                <a:latin typeface="Calibri"/>
              </a:rPr>
              <a:t>Órdenes, pagos e ítems (reglas financieras, FK)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 b="1">
                <a:solidFill>
                  <a:srgbClr val="2E9E7B"/>
                </a:solidFill>
                <a:latin typeface="Calibri"/>
              </a:rPr>
              <a:t>—  </a:t>
            </a:r>
            <a:r>
              <a:rPr sz="1400">
                <a:solidFill>
                  <a:srgbClr val="FFFFFF"/>
                </a:solidFill>
                <a:latin typeface="Calibri"/>
              </a:rPr>
              <a:t>Clientes y productos maestros (integridad)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 b="1">
                <a:solidFill>
                  <a:srgbClr val="2E9E7B"/>
                </a:solidFill>
                <a:latin typeface="Calibri"/>
              </a:rPr>
              <a:t>—  </a:t>
            </a:r>
            <a:r>
              <a:rPr sz="1400">
                <a:solidFill>
                  <a:srgbClr val="FFFFFF"/>
                </a:solidFill>
                <a:latin typeface="Calibri"/>
              </a:rPr>
              <a:t>Geolocalización con GEOGRAPHY + GiST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 b="1">
                <a:solidFill>
                  <a:srgbClr val="2E9E7B"/>
                </a:solidFill>
                <a:latin typeface="Calibri"/>
              </a:rPr>
              <a:t>—  </a:t>
            </a:r>
            <a:r>
              <a:rPr sz="1400">
                <a:solidFill>
                  <a:srgbClr val="FFFFFF"/>
                </a:solidFill>
                <a:latin typeface="Calibri"/>
              </a:rPr>
              <a:t>Atributos flexibles con JSONB controlado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 b="1">
                <a:solidFill>
                  <a:srgbClr val="2E9E7B"/>
                </a:solidFill>
                <a:latin typeface="Calibri"/>
              </a:rPr>
              <a:t>—  </a:t>
            </a:r>
            <a:r>
              <a:rPr sz="1400">
                <a:solidFill>
                  <a:srgbClr val="FFFFFF"/>
                </a:solidFill>
                <a:latin typeface="Calibri"/>
              </a:rPr>
              <a:t>Vistas materializadas para analítica recurrente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783080"/>
            <a:ext cx="5394960" cy="4480560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Calibri"/>
              </a:rPr>
              <a:t>MongoDB  ·  Atlas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37744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E8F7F1"/>
                </a:solidFill>
                <a:latin typeface="Calibri"/>
              </a:rPr>
              <a:t>Capa derivada — prioridad disponibilidad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88036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 b="1">
                <a:solidFill>
                  <a:srgbClr val="2E9E7B"/>
                </a:solidFill>
                <a:latin typeface="Calibri"/>
              </a:rPr>
              <a:t>—  </a:t>
            </a:r>
            <a:r>
              <a:rPr sz="1400">
                <a:solidFill>
                  <a:srgbClr val="FFFFFF"/>
                </a:solidFill>
                <a:latin typeface="Calibri"/>
              </a:rPr>
              <a:t>Catálogo enriquecido (producto + categoría + métricas)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 b="1">
                <a:solidFill>
                  <a:srgbClr val="2E9E7B"/>
                </a:solidFill>
                <a:latin typeface="Calibri"/>
              </a:rPr>
              <a:t>—  </a:t>
            </a:r>
            <a:r>
              <a:rPr sz="1400">
                <a:solidFill>
                  <a:srgbClr val="FFFFFF"/>
                </a:solidFill>
                <a:latin typeface="Calibri"/>
              </a:rPr>
              <a:t>Perfiles de clientes para segmentación/CRM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 b="1">
                <a:solidFill>
                  <a:srgbClr val="2E9E7B"/>
                </a:solidFill>
                <a:latin typeface="Calibri"/>
              </a:rPr>
              <a:t>—  </a:t>
            </a:r>
            <a:r>
              <a:rPr sz="1400">
                <a:solidFill>
                  <a:srgbClr val="FFFFFF"/>
                </a:solidFill>
                <a:latin typeface="Calibri"/>
              </a:rPr>
              <a:t>Desempeño de vendedores (dashboards)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 b="1">
                <a:solidFill>
                  <a:srgbClr val="2E9E7B"/>
                </a:solidFill>
                <a:latin typeface="Calibri"/>
              </a:rPr>
              <a:t>—  </a:t>
            </a:r>
            <a:r>
              <a:rPr sz="1400">
                <a:solidFill>
                  <a:srgbClr val="FFFFFF"/>
                </a:solidFill>
                <a:latin typeface="Calibri"/>
              </a:rPr>
              <a:t>Analítica geográfica por estado/ciudad/mes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 b="1">
                <a:solidFill>
                  <a:srgbClr val="2E9E7B"/>
                </a:solidFill>
                <a:latin typeface="Calibri"/>
              </a:rPr>
              <a:t>—  </a:t>
            </a:r>
            <a:r>
              <a:rPr sz="1400">
                <a:solidFill>
                  <a:srgbClr val="FFFFFF"/>
                </a:solidFill>
                <a:latin typeface="Calibri"/>
              </a:rPr>
              <a:t>Reseñas enriquecidas con contexto de orden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E9E7B"/>
                </a:solidFill>
                <a:latin typeface="Calibri"/>
              </a:rPr>
              <a:t>04 · INGENIERÍA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4E79"/>
                </a:solidFill>
                <a:latin typeface="Calibri"/>
              </a:rPr>
              <a:t>Decisiones técnicas no obvias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5257800" cy="21031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109728" cy="2103120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947672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4E79"/>
                </a:solidFill>
                <a:latin typeface="Calibri"/>
              </a:rPr>
              <a:t>Llaves técnicas BIGINT IDENTITY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560320"/>
            <a:ext cx="4937760" cy="12344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3000"/>
              </a:lnSpc>
            </a:pPr>
            <a:r>
              <a:rPr sz="1250" b="0" i="0">
                <a:solidFill>
                  <a:srgbClr val="222B33"/>
                </a:solidFill>
                <a:latin typeface="Calibri"/>
              </a:rPr>
              <a:t>Se usaron surrogate keys internas en vez de los IDs de texto de Olist como PK física. Los IDs originales se conservan como TEXT UNIQUE para trazabilidad.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257800" cy="21031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5080" y="1783080"/>
            <a:ext cx="109728" cy="2103120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947672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4E79"/>
                </a:solidFill>
                <a:latin typeface="Calibri"/>
              </a:rPr>
              <a:t>Particionamiento diferido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560320"/>
            <a:ext cx="4937760" cy="12344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3000"/>
              </a:lnSpc>
            </a:pPr>
            <a:r>
              <a:rPr sz="1250" b="0" i="0">
                <a:solidFill>
                  <a:srgbClr val="222B33"/>
                </a:solidFill>
                <a:latin typeface="Calibri"/>
              </a:rPr>
              <a:t>Se documentó el borrador pero NO se activó: PostgreSQL exige incluir la clave de partición en cada índice único, lo que rompería las FK con el volumen actual.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069080"/>
            <a:ext cx="5257800" cy="21031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4069080"/>
            <a:ext cx="109728" cy="2103120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4233672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4E79"/>
                </a:solidFill>
                <a:latin typeface="Calibri"/>
              </a:rPr>
              <a:t>Índice compuesto en review_documents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4846320"/>
            <a:ext cx="4937760" cy="12344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3000"/>
              </a:lnSpc>
            </a:pPr>
            <a:r>
              <a:rPr sz="1250" b="0" i="0">
                <a:solidFill>
                  <a:srgbClr val="222B33"/>
                </a:solidFill>
                <a:latin typeface="Calibri"/>
              </a:rPr>
              <a:t>Usar solo review_id reducía la carga a 994 docs. El índice {review_id, order_id} permitió cargar los 99.224 reales: el modelo se ajustó a los datos.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5080" y="4069080"/>
            <a:ext cx="5257800" cy="21031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55080" y="4069080"/>
            <a:ext cx="109728" cy="2103120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4233672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4E79"/>
                </a:solidFill>
                <a:latin typeface="Calibri"/>
              </a:rPr>
              <a:t>Especialización por extensión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846320"/>
            <a:ext cx="4937760" cy="12344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3000"/>
              </a:lnSpc>
            </a:pPr>
            <a:r>
              <a:rPr sz="1250" b="0" i="0">
                <a:solidFill>
                  <a:srgbClr val="222B33"/>
                </a:solidFill>
                <a:latin typeface="Calibri"/>
              </a:rPr>
              <a:t>pg_trgm + GIN para texto aproximado y PostGIS + GiST para geografía: capacidades que evitan duplicar entidades o mover lógica a la aplicación.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E9E7B"/>
                </a:solidFill>
                <a:latin typeface="Calibri"/>
              </a:rPr>
              <a:t>05 · TEOREMA 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4E79"/>
                </a:solidFill>
                <a:latin typeface="Calibri"/>
              </a:rPr>
              <a:t>CAP aplicado por módulo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11064240" cy="4572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10896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Módulo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39" y="1828800"/>
            <a:ext cx="18288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Motor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7840" y="1828800"/>
            <a:ext cx="118872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CAP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1828800"/>
            <a:ext cx="475488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Decisión / trade-off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86000"/>
            <a:ext cx="11064240" cy="7772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286000"/>
            <a:ext cx="310896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22B33"/>
                </a:solidFill>
                <a:latin typeface="Calibri"/>
              </a:rPr>
              <a:t>Órdenes y pagos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286000"/>
            <a:ext cx="182880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B33"/>
                </a:solidFill>
                <a:latin typeface="Calibri"/>
              </a:rPr>
              <a:t>PostgreSQL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77840" y="2487168"/>
            <a:ext cx="1005840" cy="384048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0" y="2487168"/>
            <a:ext cx="1005840" cy="38404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CP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2286000"/>
            <a:ext cx="475488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B33"/>
                </a:solidFill>
                <a:latin typeface="Calibri"/>
              </a:rPr>
              <a:t>No se aceptan pagos ni órdenes inconsistentes. Ante partición, se prioriza consistencia.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063240"/>
            <a:ext cx="1106424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063240"/>
            <a:ext cx="310896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22B33"/>
                </a:solidFill>
                <a:latin typeface="Calibri"/>
              </a:rPr>
              <a:t>Clientes y productos maestros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3063240"/>
            <a:ext cx="182880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B33"/>
                </a:solidFill>
                <a:latin typeface="Calibri"/>
              </a:rPr>
              <a:t>PostgreSQL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77840" y="3264408"/>
            <a:ext cx="1005840" cy="384048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77840" y="3264408"/>
            <a:ext cx="1005840" cy="38404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CP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3063240"/>
            <a:ext cx="475488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B33"/>
                </a:solidFill>
                <a:latin typeface="Calibri"/>
              </a:rPr>
              <a:t>La integridad referencial pesa más que una escritura siempre disponible.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840480"/>
            <a:ext cx="11064240" cy="7772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840480"/>
            <a:ext cx="310896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22B33"/>
                </a:solidFill>
                <a:latin typeface="Calibri"/>
              </a:rPr>
              <a:t>Catálogo enriquecido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3840480"/>
            <a:ext cx="182880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B33"/>
                </a:solidFill>
                <a:latin typeface="Calibri"/>
              </a:rPr>
              <a:t>MongoDB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7840" y="4041648"/>
            <a:ext cx="1005840" cy="384048"/>
          </a:xfrm>
          <a:prstGeom prst="round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0" y="4041648"/>
            <a:ext cx="1005840" cy="38404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3840480"/>
            <a:ext cx="475488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B33"/>
                </a:solidFill>
                <a:latin typeface="Calibri"/>
              </a:rPr>
              <a:t>Disponibilidad y baja latencia; se acepta consistencia eventual vs PostgreSQL.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617720"/>
            <a:ext cx="1106424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617720"/>
            <a:ext cx="310896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22B33"/>
                </a:solidFill>
                <a:latin typeface="Calibri"/>
              </a:rPr>
              <a:t>Dashboards y geo-analítica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49039" y="4617720"/>
            <a:ext cx="182880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B33"/>
                </a:solidFill>
                <a:latin typeface="Calibri"/>
              </a:rPr>
              <a:t>MongoDB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77840" y="4818888"/>
            <a:ext cx="1005840" cy="384048"/>
          </a:xfrm>
          <a:prstGeom prst="round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77840" y="4818888"/>
            <a:ext cx="1005840" cy="38404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AP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4617720"/>
            <a:ext cx="475488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B33"/>
                </a:solidFill>
                <a:latin typeface="Calibri"/>
              </a:rPr>
              <a:t>Los agregados pueden estar desfasados hasta el siguiente refresh/sync.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394959"/>
            <a:ext cx="11064240" cy="7772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394959"/>
            <a:ext cx="310896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22B33"/>
                </a:solidFill>
                <a:latin typeface="Calibri"/>
              </a:rPr>
              <a:t>Validación post-sync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49039" y="5394959"/>
            <a:ext cx="182880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B33"/>
                </a:solidFill>
                <a:latin typeface="Calibri"/>
              </a:rPr>
              <a:t>MongoDB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577840" y="5596127"/>
            <a:ext cx="1005840" cy="384048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77840" y="5596127"/>
            <a:ext cx="1005840" cy="38404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CP temp.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5394959"/>
            <a:ext cx="475488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22B33"/>
                </a:solidFill>
                <a:latin typeface="Calibri"/>
              </a:rPr>
              <a:t>Al validar cargas se lee del primary con read concern: majority.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E9E7B"/>
                </a:solidFill>
                <a:latin typeface="Calibri"/>
              </a:rPr>
              <a:t>06 · RENDIMIENTO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4E79"/>
                </a:solidFill>
                <a:latin typeface="Calibri"/>
              </a:rPr>
              <a:t>Optimización en PostgreSQL</a:t>
            </a:r>
          </a:p>
        </p:txBody>
      </p:sp>
      <p:pic>
        <p:nvPicPr>
          <p:cNvPr id="4" name="Picture 3" descr="chart_postgres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7315200" cy="426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046720" y="1920240"/>
            <a:ext cx="3657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1F4E79"/>
                </a:solidFill>
                <a:latin typeface="Calibri"/>
              </a:rPr>
              <a:t>-99,83%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260604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670"/>
                </a:solidFill>
                <a:latin typeface="Calibri"/>
              </a:rPr>
              <a:t>Tiempo en búsqueda OLTP por order_id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670"/>
                </a:solidFill>
                <a:latin typeface="Calibri"/>
              </a:rPr>
              <a:t>(25,899 ms → 0,043 ms)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3520440"/>
            <a:ext cx="3657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2E9E7B"/>
                </a:solidFill>
                <a:latin typeface="Calibri"/>
              </a:rPr>
              <a:t>-98,66%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420624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670"/>
                </a:solidFill>
                <a:latin typeface="Calibri"/>
              </a:rPr>
              <a:t>Búsqueda espacial PostGIS por radio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670"/>
                </a:solidFill>
                <a:latin typeface="Calibri"/>
              </a:rPr>
              <a:t>(26,105 ms → 0,351 ms)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5120640"/>
            <a:ext cx="3657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B6EA5"/>
                </a:solidFill>
                <a:latin typeface="Calibri"/>
              </a:rPr>
              <a:t>0,231 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580644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670"/>
                </a:solidFill>
                <a:latin typeface="Calibri"/>
              </a:rPr>
              <a:t>Dashboard de ventas vía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670"/>
                </a:solidFill>
                <a:latin typeface="Calibri"/>
              </a:rPr>
              <a:t>vista materializada (preagregado)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E9E7B"/>
                </a:solidFill>
                <a:latin typeface="Calibri"/>
              </a:rPr>
              <a:t>06 · RENDIMIENTO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4E79"/>
                </a:solidFill>
                <a:latin typeface="Calibri"/>
              </a:rPr>
              <a:t>Optimización en MongoDB</a:t>
            </a:r>
          </a:p>
        </p:txBody>
      </p:sp>
      <p:pic>
        <p:nvPicPr>
          <p:cNvPr id="4" name="Picture 3" descr="chart_mongo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7315200" cy="426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046720" y="1920240"/>
            <a:ext cx="3657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2E9E7B"/>
                </a:solidFill>
                <a:latin typeface="Calibri"/>
              </a:rPr>
              <a:t>20.888→20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260604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670"/>
                </a:solidFill>
                <a:latin typeface="Calibri"/>
              </a:rPr>
              <a:t>Docs examinados en geo_analytics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670"/>
                </a:solidFill>
                <a:latin typeface="Calibri"/>
              </a:rPr>
              <a:t>con índice {state, city}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3520440"/>
            <a:ext cx="3657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1F4E79"/>
                </a:solidFill>
                <a:latin typeface="Calibri"/>
              </a:rPr>
              <a:t>-94,33%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420624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670"/>
                </a:solidFill>
                <a:latin typeface="Calibri"/>
              </a:rPr>
              <a:t>Catálogo por categoría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670"/>
                </a:solidFill>
                <a:latin typeface="Calibri"/>
              </a:rPr>
              <a:t>(353 → 20 docs examinados)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5029200"/>
            <a:ext cx="3657600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5B6670"/>
                </a:solidFill>
                <a:latin typeface="Calibri"/>
              </a:rPr>
              <a:t>La eficiencia aparece cuando el índice coincide con el patrón real de lectura. En tiempos de 0 ms, la métrica útil es el número de documentos examinados.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E9E7B"/>
                </a:solidFill>
                <a:latin typeface="Calibri"/>
              </a:rPr>
              <a:t>07 · COMPARATIVA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4E79"/>
                </a:solidFill>
                <a:latin typeface="Calibri"/>
              </a:rPr>
              <a:t>PostgreSQL vs MongoDB — ganador por aspecto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11064240" cy="43891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029200" cy="4389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Aspecto evaluado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0" y="1828800"/>
            <a:ext cx="1828800" cy="4389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Ganador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828800"/>
            <a:ext cx="3749039" cy="4389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Evidencia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67712"/>
            <a:ext cx="11064240" cy="65836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67712"/>
            <a:ext cx="5120640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22B33"/>
                </a:solidFill>
                <a:latin typeface="Calibri"/>
              </a:rPr>
              <a:t>Consultas transaccionales puntuales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2414016"/>
            <a:ext cx="1691640" cy="36576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2414016"/>
            <a:ext cx="169164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267712"/>
            <a:ext cx="3749039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B33"/>
                </a:solidFill>
                <a:latin typeface="Calibri"/>
              </a:rPr>
              <a:t>order_id optimizado a 0,043 ms con FK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26080"/>
            <a:ext cx="11064240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926080"/>
            <a:ext cx="5120640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22B33"/>
                </a:solidFill>
                <a:latin typeface="Calibri"/>
              </a:rPr>
              <a:t>Integridad financiera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3072384"/>
            <a:ext cx="1691640" cy="36576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0" y="3072384"/>
            <a:ext cx="169164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2926080"/>
            <a:ext cx="3749039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B33"/>
                </a:solidFill>
                <a:latin typeface="Calibri"/>
              </a:rPr>
              <a:t>Secuencia, valores y restricciones en pagos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584448"/>
            <a:ext cx="11064240" cy="65836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584448"/>
            <a:ext cx="5120640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22B33"/>
                </a:solidFill>
                <a:latin typeface="Calibri"/>
              </a:rPr>
              <a:t>Búsqueda espacial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3730752"/>
            <a:ext cx="1691640" cy="36576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0" y="3730752"/>
            <a:ext cx="169164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3584448"/>
            <a:ext cx="3749039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B33"/>
                </a:solidFill>
                <a:latin typeface="Calibri"/>
              </a:rPr>
              <a:t>PostGIS + GiST resolvió radio en 0,351 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242816"/>
            <a:ext cx="11064240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242816"/>
            <a:ext cx="5120640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22B33"/>
                </a:solidFill>
                <a:latin typeface="Calibri"/>
              </a:rPr>
              <a:t>Catálogo enriquecido de lectura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52160" y="4389120"/>
            <a:ext cx="1691640" cy="365760"/>
          </a:xfrm>
          <a:prstGeom prst="round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160" y="4389120"/>
            <a:ext cx="169164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MongoDB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4242816"/>
            <a:ext cx="3749039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B33"/>
                </a:solidFill>
                <a:latin typeface="Calibri"/>
              </a:rPr>
              <a:t>Documento evita joins; 20 docs con índice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901183"/>
            <a:ext cx="11064240" cy="65836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901183"/>
            <a:ext cx="5120640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22B33"/>
                </a:solidFill>
                <a:latin typeface="Calibri"/>
              </a:rPr>
              <a:t>Flexibilidad de documentos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0" y="5047488"/>
            <a:ext cx="1691640" cy="365760"/>
          </a:xfrm>
          <a:prstGeom prst="round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52160" y="5047488"/>
            <a:ext cx="169164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MongoDB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4901183"/>
            <a:ext cx="3749039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B33"/>
                </a:solidFill>
                <a:latin typeface="Calibri"/>
              </a:rPr>
              <a:t>Estructuras anidadas y proyecciones evolutivas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559551"/>
            <a:ext cx="11064240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559551"/>
            <a:ext cx="5120640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22B33"/>
                </a:solidFill>
                <a:latin typeface="Calibri"/>
              </a:rPr>
              <a:t>Dashboards derivados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852160" y="5705855"/>
            <a:ext cx="1691640" cy="365760"/>
          </a:xfrm>
          <a:prstGeom prst="round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52160" y="5705855"/>
            <a:ext cx="169164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Empate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5559551"/>
            <a:ext cx="3749039" cy="6583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22B33"/>
                </a:solidFill>
                <a:latin typeface="Calibri"/>
              </a:rPr>
              <a:t>MV en Postgres + documentos agregados en Atlas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E9E7B"/>
                </a:solidFill>
                <a:latin typeface="Calibri"/>
              </a:rPr>
              <a:t>08 · ESCENARIOS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4E79"/>
                </a:solidFill>
                <a:latin typeface="Calibri"/>
              </a:rPr>
              <a:t>Trade-offs C vs A en producción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3611880" cy="42062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3611880" cy="960120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Pico de ventas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FFFFFF"/>
                </a:solidFill>
                <a:latin typeface="Calibri"/>
              </a:rPr>
              <a:t>Campaña de descuentos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926080"/>
            <a:ext cx="32004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9E7B"/>
                </a:solidFill>
                <a:latin typeface="Calibri"/>
              </a:rPr>
              <a:t>A en lectura / C en escritura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703320"/>
            <a:ext cx="3200400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22B33"/>
                </a:solidFill>
                <a:latin typeface="Calibri"/>
              </a:rPr>
              <a:t>Catálogo y dashboards desde secundarios (maxStaleness 90s) + cache; pagos y órdenes siempre consistentes en el primary.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79" y="1783080"/>
            <a:ext cx="3611880" cy="42062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79" y="1783080"/>
            <a:ext cx="3611880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79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Auditoría financiera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233172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FFFFFF"/>
                </a:solidFill>
                <a:latin typeface="Calibri"/>
              </a:rPr>
              <a:t>Corte contable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79" y="2926080"/>
            <a:ext cx="32004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F4E79"/>
                </a:solidFill>
                <a:latin typeface="Calibri"/>
              </a:rPr>
              <a:t>Consistencia estricta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3703320"/>
            <a:ext cx="3200400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22B33"/>
                </a:solidFill>
                <a:latin typeface="Calibri"/>
              </a:rPr>
              <a:t>Lectura desde primary con SERIALIZABLE; se bloquea MongoDB para cifras contables y se congela la ventana de sync.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19" y="1783080"/>
            <a:ext cx="3611880" cy="42062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19" y="1783080"/>
            <a:ext cx="3611880" cy="96012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19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Cierre de 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19" y="233172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FFFFFF"/>
                </a:solidFill>
                <a:latin typeface="Calibri"/>
              </a:rPr>
              <a:t>Reporting analítico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19" y="2926080"/>
            <a:ext cx="32004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3B6EA5"/>
                </a:solidFill>
                <a:latin typeface="Calibri"/>
              </a:rPr>
              <a:t>Disponibilidad (tolera desfase)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19" y="3703320"/>
            <a:ext cx="3200400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22B33"/>
                </a:solidFill>
                <a:latin typeface="Calibri"/>
              </a:rPr>
              <a:t>Refresh de vistas y sync fuera de hora pico; dashboards desde Atlas sin impactar el OLTP.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1">
                <a:solidFill>
                  <a:srgbClr val="5B6670"/>
                </a:solidFill>
                <a:latin typeface="Calibri"/>
              </a:rPr>
              <a:t>Regla transversal: toda cifra con valor legal o financiero se resuelve en PostgreSQL con consistencia fuerte.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E9E7B"/>
                </a:solidFill>
                <a:latin typeface="Calibri"/>
              </a:rPr>
              <a:t>09 · APRENDIZAJES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4E79"/>
                </a:solidFill>
                <a:latin typeface="Calibri"/>
              </a:rPr>
              <a:t>Lecciones aprendidas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28800"/>
            <a:ext cx="502920" cy="5029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783080"/>
            <a:ext cx="102412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F4E79"/>
                </a:solidFill>
                <a:latin typeface="Calibri"/>
              </a:rPr>
              <a:t>Una fuente de verdad clara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167128"/>
            <a:ext cx="1024128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33"/>
                </a:solidFill>
                <a:latin typeface="Calibri"/>
              </a:rPr>
              <a:t>evita conflictos entre PostgreSQL y MongoDB en la arquitectura híbrida.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697479"/>
            <a:ext cx="502920" cy="5029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697479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651760"/>
            <a:ext cx="102412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F4E79"/>
                </a:solidFill>
                <a:latin typeface="Calibri"/>
              </a:rPr>
              <a:t>Documentos derivados reconstruibles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035808"/>
            <a:ext cx="1024128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33"/>
                </a:solidFill>
                <a:latin typeface="Calibri"/>
              </a:rPr>
              <a:t>si MongoDB falla o cambia el modelo, se regenera desde PostgreSQL.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566159"/>
            <a:ext cx="502920" cy="5029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566159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520439"/>
            <a:ext cx="102412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F4E79"/>
                </a:solidFill>
                <a:latin typeface="Calibri"/>
              </a:rPr>
              <a:t>Las llaves únicas se validan con datos reales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904487"/>
            <a:ext cx="1024128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33"/>
                </a:solidFill>
                <a:latin typeface="Calibri"/>
              </a:rPr>
              <a:t>review_documents demostró que un supuesto de unicidad puede ser falso.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434840"/>
            <a:ext cx="502920" cy="5029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389120"/>
            <a:ext cx="102412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F4E79"/>
                </a:solidFill>
                <a:latin typeface="Calibri"/>
              </a:rPr>
              <a:t>Los índices responden al patrón de consulta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773168"/>
            <a:ext cx="1024128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33"/>
                </a:solidFill>
                <a:latin typeface="Calibri"/>
              </a:rPr>
              <a:t>ambos motores mejoraron cuando el índice coincidió con el filtro real.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5303520"/>
            <a:ext cx="502920" cy="502920"/>
          </a:xfrm>
          <a:prstGeom prst="ellipse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30352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257800"/>
            <a:ext cx="102412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F4E79"/>
                </a:solidFill>
                <a:latin typeface="Calibri"/>
              </a:rPr>
              <a:t>Free tier valida, no concluye capacidad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641848"/>
            <a:ext cx="1024128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33"/>
                </a:solidFill>
                <a:latin typeface="Calibri"/>
              </a:rPr>
              <a:t>los tiempos cloud dependen de red y recursos compartidos.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E9E7B"/>
                </a:solidFill>
                <a:latin typeface="Calibri"/>
              </a:rPr>
              <a:t>10 · ESTRATEGIA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4E79"/>
                </a:solidFill>
                <a:latin typeface="Calibri"/>
              </a:rPr>
              <a:t>Recomendaciones para crecer 10x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5257800" cy="21031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5257800" cy="5029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48463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Escalamiento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41448"/>
            <a:ext cx="484632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22B33"/>
                </a:solidFill>
                <a:latin typeface="Calibri"/>
              </a:rPr>
              <a:t>Supabase a plan productivo (PITR, réplicas de lectura). Atlas a cluster dedicado; sharding en product_catalog si las métricas lo justifican.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257800" cy="21031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5080" y="1783080"/>
            <a:ext cx="5257800" cy="502920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783080"/>
            <a:ext cx="48463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Free tier → producción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441448"/>
            <a:ext cx="484632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22B33"/>
                </a:solidFill>
                <a:latin typeface="Calibri"/>
              </a:rPr>
              <a:t>Ambientes dev/staging/prod, backups, secretos gestionados y migraciones reversibles. ~210 MB → ~2,1 GB al multiplicar por 10.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069080"/>
            <a:ext cx="5257800" cy="21031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4069080"/>
            <a:ext cx="5257800" cy="50292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069080"/>
            <a:ext cx="48463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Tecnologías complementarias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27448"/>
            <a:ext cx="484632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22B33"/>
                </a:solidFill>
                <a:latin typeface="Calibri"/>
              </a:rPr>
              <a:t>Redis (cache de catálogo y dashboards), OpenSearch/Atlas Search (texto), Prometheus/Grafana (observabilidad).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5080" y="4069080"/>
            <a:ext cx="5257800" cy="21031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55080" y="4069080"/>
            <a:ext cx="5257800" cy="502920"/>
          </a:xfrm>
          <a:prstGeom prst="rect">
            <a:avLst/>
          </a:prstGeom>
          <a:solidFill>
            <a:srgbClr val="B07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4069080"/>
            <a:ext cx="48463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Sincronización y CI/CD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727448"/>
            <a:ext cx="484632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22B33"/>
                </a:solidFill>
                <a:latin typeface="Calibri"/>
              </a:rPr>
              <a:t>De batch a incremental por updated_at / outbox / CDC. Migraciones SQL versionadas, probadas en Docker antes de cloud, con rollback.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E9E7B"/>
                </a:solidFill>
                <a:latin typeface="Calibri"/>
              </a:rPr>
              <a:t>11 · 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4E79"/>
                </a:solidFill>
                <a:latin typeface="Calibri"/>
              </a:rP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2E9E7B"/>
                </a:solidFill>
                <a:latin typeface="Calibri"/>
              </a:rPr>
              <a:t>Objetivos cumplidos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331720"/>
            <a:ext cx="6492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>
                <a:solidFill>
                  <a:srgbClr val="2E9E7B"/>
                </a:solidFill>
                <a:latin typeface="Calibri"/>
              </a:rPr>
              <a:t>—  </a:t>
            </a:r>
            <a:r>
              <a:rPr sz="1400">
                <a:solidFill>
                  <a:srgbClr val="222B33"/>
                </a:solidFill>
                <a:latin typeface="Calibri"/>
              </a:rPr>
              <a:t>Arquitectura híbrida diseñada, implementada y validada en cloud.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>
                <a:solidFill>
                  <a:srgbClr val="2E9E7B"/>
                </a:solidFill>
                <a:latin typeface="Calibri"/>
              </a:rPr>
              <a:t>—  </a:t>
            </a:r>
            <a:r>
              <a:rPr sz="1400">
                <a:solidFill>
                  <a:srgbClr val="222B33"/>
                </a:solidFill>
                <a:latin typeface="Calibri"/>
              </a:rPr>
              <a:t>PostgreSQL/PostGIS confirmado como núcleo transaccional y espacial.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>
                <a:solidFill>
                  <a:srgbClr val="2E9E7B"/>
                </a:solidFill>
                <a:latin typeface="Calibri"/>
              </a:rPr>
              <a:t>—  </a:t>
            </a:r>
            <a:r>
              <a:rPr sz="1400">
                <a:solidFill>
                  <a:srgbClr val="222B33"/>
                </a:solidFill>
                <a:latin typeface="Calibri"/>
              </a:rPr>
              <a:t>MongoDB Atlas confirmado como capa documental derivada y reconstruible.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>
                <a:solidFill>
                  <a:srgbClr val="2E9E7B"/>
                </a:solidFill>
                <a:latin typeface="Calibri"/>
              </a:rPr>
              <a:t>—  </a:t>
            </a:r>
            <a:r>
              <a:rPr sz="1400">
                <a:solidFill>
                  <a:srgbClr val="222B33"/>
                </a:solidFill>
                <a:latin typeface="Calibri"/>
              </a:rPr>
              <a:t>Optimizaciones guiadas por patrones reales de consulta, con evidencia cuantitativa.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>
                <a:solidFill>
                  <a:srgbClr val="2E9E7B"/>
                </a:solidFill>
                <a:latin typeface="Calibri"/>
              </a:rPr>
              <a:t>—  </a:t>
            </a:r>
            <a:r>
              <a:rPr sz="1400">
                <a:solidFill>
                  <a:srgbClr val="222B33"/>
                </a:solidFill>
                <a:latin typeface="Calibri"/>
              </a:rPr>
              <a:t>Selección tecnológica por módulo justificada bajo el Teorema CAP.</a:t>
            </a:r>
          </a:p>
        </p:txBody>
      </p:sp>
      <p:sp>
        <p:nvSpPr>
          <p:cNvPr id="6" name="Rectangle 5"/>
          <p:cNvSpPr/>
          <p:nvPr/>
        </p:nvSpPr>
        <p:spPr>
          <a:xfrm>
            <a:off x="7223760" y="1783080"/>
            <a:ext cx="4389120" cy="4297680"/>
          </a:xfrm>
          <a:prstGeom prst="rect">
            <a:avLst/>
          </a:prstGeom>
          <a:solidFill>
            <a:srgbClr val="1F3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52360" y="2057400"/>
            <a:ext cx="393192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2E9E7B"/>
                </a:solidFill>
                <a:latin typeface="Calibri"/>
              </a:rPr>
              <a:t>9 tablas · 210 MB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2624328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Núcleo relacional en Supabase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3154680"/>
            <a:ext cx="393192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2E9E7B"/>
                </a:solidFill>
                <a:latin typeface="Calibri"/>
              </a:rPr>
              <a:t>~256k docs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3721608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Capa documental en Atlas, 0 fallos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4251960"/>
            <a:ext cx="393192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2E9E7B"/>
                </a:solidFill>
                <a:latin typeface="Calibri"/>
              </a:rPr>
              <a:t>-99,83% / -99,90%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2360" y="4818888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Tiempo OLTP / docs geo examinados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52360" y="5440680"/>
            <a:ext cx="39319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FFFFFF"/>
                </a:solidFill>
                <a:latin typeface="Calibri"/>
              </a:rPr>
              <a:t>Próximo paso: pruebas formales de carga</a:t>
            </a:r>
          </a:p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FFFFFF"/>
                </a:solidFill>
                <a:latin typeface="Calibri"/>
              </a:rPr>
              <a:t>y sincronización incremental.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E9E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FFFFFF"/>
                </a:solidFill>
                <a:latin typeface="Calibri"/>
              </a:rPr>
              <a:t>Gracias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CADCFC"/>
                </a:solidFill>
                <a:latin typeface="Calibri"/>
              </a:rPr>
              <a:t>Proyecto Ecommify · Arquitectura híbrida PostgreSQL + MongoDB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114800"/>
            <a:ext cx="10515600" cy="27432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FFFFF"/>
                </a:solidFill>
                <a:latin typeface="Calibri"/>
              </a:rPr>
              <a:t>Grupo 01 · Equipo E16   |   github.com/capadil/Ecommify_Olist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Universidad de La Sabana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Jorge Andres Ayala Valero</dc:creator>
  <cp:keywords/>
  <cp:lastModifiedBy>Jorge Andres Ayala Valero</cp:lastModifiedBy>
  <cp:revision>1</cp:revision>
  <dcterms:created xsi:type="dcterms:W3CDTF">2013-01-27T09:14:16Z</dcterms:created>
  <dcterms:modified xsi:type="dcterms:W3CDTF">2013-01-27T09:15:58Z</dcterms:modified>
  <cp:category/>
</cp:coreProperties>
</file>